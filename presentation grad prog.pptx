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7" r:id="rId5"/>
    <p:sldId id="278" r:id="rId6"/>
    <p:sldId id="279" r:id="rId7"/>
    <p:sldId id="258" r:id="rId8"/>
    <p:sldId id="280" r:id="rId9"/>
    <p:sldId id="281" r:id="rId10"/>
    <p:sldId id="282" r:id="rId11"/>
    <p:sldId id="266" r:id="rId12"/>
    <p:sldId id="283" r:id="rId13"/>
    <p:sldId id="284" r:id="rId14"/>
    <p:sldId id="285" r:id="rId15"/>
    <p:sldId id="271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A7C6B-BD34-46AB-935B-E1BAAD2B5069}" v="29" dt="2025-11-08T21:52:16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loud Emad Hagag" userId="79e6f751071d9884" providerId="LiveId" clId="{B92ED33B-9A81-4E2D-AEF7-3F270CA0A6CC}"/>
    <pc:docChg chg="undo custSel delSld modSld">
      <pc:chgData name="Kholoud Emad Hagag" userId="79e6f751071d9884" providerId="LiveId" clId="{B92ED33B-9A81-4E2D-AEF7-3F270CA0A6CC}" dt="2025-11-08T21:53:36.999" v="798" actId="27636"/>
      <pc:docMkLst>
        <pc:docMk/>
      </pc:docMkLst>
      <pc:sldChg chg="del">
        <pc:chgData name="Kholoud Emad Hagag" userId="79e6f751071d9884" providerId="LiveId" clId="{B92ED33B-9A81-4E2D-AEF7-3F270CA0A6CC}" dt="2025-11-08T20:58:00.249" v="0" actId="2696"/>
        <pc:sldMkLst>
          <pc:docMk/>
          <pc:sldMk cId="2586058810" sldId="256"/>
        </pc:sldMkLst>
      </pc:sldChg>
      <pc:sldChg chg="delSp modSp mod">
        <pc:chgData name="Kholoud Emad Hagag" userId="79e6f751071d9884" providerId="LiveId" clId="{B92ED33B-9A81-4E2D-AEF7-3F270CA0A6CC}" dt="2025-11-08T21:05:17.809" v="131" actId="1076"/>
        <pc:sldMkLst>
          <pc:docMk/>
          <pc:sldMk cId="1713219598" sldId="257"/>
        </pc:sldMkLst>
        <pc:spChg chg="mod">
          <ac:chgData name="Kholoud Emad Hagag" userId="79e6f751071d9884" providerId="LiveId" clId="{B92ED33B-9A81-4E2D-AEF7-3F270CA0A6CC}" dt="2025-11-08T21:05:17.809" v="131" actId="1076"/>
          <ac:spMkLst>
            <pc:docMk/>
            <pc:sldMk cId="1713219598" sldId="257"/>
            <ac:spMk id="2" creationId="{1BEF5859-10C9-4588-9727-B9362E26C29D}"/>
          </ac:spMkLst>
        </pc:spChg>
        <pc:spChg chg="del mod">
          <ac:chgData name="Kholoud Emad Hagag" userId="79e6f751071d9884" providerId="LiveId" clId="{B92ED33B-9A81-4E2D-AEF7-3F270CA0A6CC}" dt="2025-11-08T21:01:11.004" v="70" actId="478"/>
          <ac:spMkLst>
            <pc:docMk/>
            <pc:sldMk cId="1713219598" sldId="257"/>
            <ac:spMk id="3" creationId="{5671D7E5-EF66-4BCD-8DAA-E9061157F0BE}"/>
          </ac:spMkLst>
        </pc:spChg>
      </pc:sldChg>
      <pc:sldChg chg="addSp delSp modSp mod">
        <pc:chgData name="Kholoud Emad Hagag" userId="79e6f751071d9884" providerId="LiveId" clId="{B92ED33B-9A81-4E2D-AEF7-3F270CA0A6CC}" dt="2025-11-08T21:21:37.819" v="604" actId="255"/>
        <pc:sldMkLst>
          <pc:docMk/>
          <pc:sldMk cId="3571516367" sldId="258"/>
        </pc:sldMkLst>
        <pc:spChg chg="mod">
          <ac:chgData name="Kholoud Emad Hagag" userId="79e6f751071d9884" providerId="LiveId" clId="{B92ED33B-9A81-4E2D-AEF7-3F270CA0A6CC}" dt="2025-11-08T21:20:59.805" v="602" actId="113"/>
          <ac:spMkLst>
            <pc:docMk/>
            <pc:sldMk cId="3571516367" sldId="258"/>
            <ac:spMk id="2" creationId="{0A32731C-311B-46F7-A865-6C3AF6B09A47}"/>
          </ac:spMkLst>
        </pc:spChg>
        <pc:spChg chg="del mod">
          <ac:chgData name="Kholoud Emad Hagag" userId="79e6f751071d9884" providerId="LiveId" clId="{B92ED33B-9A81-4E2D-AEF7-3F270CA0A6CC}" dt="2025-11-08T21:19:15.868" v="587"/>
          <ac:spMkLst>
            <pc:docMk/>
            <pc:sldMk cId="3571516367" sldId="258"/>
            <ac:spMk id="3" creationId="{9D5232F9-FD00-464A-9F17-619C91AEF8F3}"/>
          </ac:spMkLst>
        </pc:spChg>
        <pc:spChg chg="add mod">
          <ac:chgData name="Kholoud Emad Hagag" userId="79e6f751071d9884" providerId="LiveId" clId="{B92ED33B-9A81-4E2D-AEF7-3F270CA0A6CC}" dt="2025-11-08T21:21:37.819" v="604" actId="255"/>
          <ac:spMkLst>
            <pc:docMk/>
            <pc:sldMk cId="3571516367" sldId="258"/>
            <ac:spMk id="4" creationId="{6661C4DF-6308-6371-1F00-281173AB5D1E}"/>
          </ac:spMkLst>
        </pc:spChg>
      </pc:sldChg>
      <pc:sldChg chg="addSp delSp modSp mod">
        <pc:chgData name="Kholoud Emad Hagag" userId="79e6f751071d9884" providerId="LiveId" clId="{B92ED33B-9A81-4E2D-AEF7-3F270CA0A6CC}" dt="2025-11-08T21:39:41.224" v="691" actId="113"/>
        <pc:sldMkLst>
          <pc:docMk/>
          <pc:sldMk cId="1742861620" sldId="266"/>
        </pc:sldMkLst>
        <pc:spChg chg="mod">
          <ac:chgData name="Kholoud Emad Hagag" userId="79e6f751071d9884" providerId="LiveId" clId="{B92ED33B-9A81-4E2D-AEF7-3F270CA0A6CC}" dt="2025-11-08T21:38:21.059" v="684" actId="1076"/>
          <ac:spMkLst>
            <pc:docMk/>
            <pc:sldMk cId="1742861620" sldId="266"/>
            <ac:spMk id="2" creationId="{4518FC28-E0BD-4387-B8BE-9965D1A57FF1}"/>
          </ac:spMkLst>
        </pc:spChg>
        <pc:spChg chg="mod">
          <ac:chgData name="Kholoud Emad Hagag" userId="79e6f751071d9884" providerId="LiveId" clId="{B92ED33B-9A81-4E2D-AEF7-3F270CA0A6CC}" dt="2025-11-08T21:38:06.210" v="683" actId="14100"/>
          <ac:spMkLst>
            <pc:docMk/>
            <pc:sldMk cId="1742861620" sldId="266"/>
            <ac:spMk id="3" creationId="{FED19BCA-B61F-4EA6-A1FB-CCA3BD8506FB}"/>
          </ac:spMkLst>
        </pc:spChg>
        <pc:spChg chg="add del mod">
          <ac:chgData name="Kholoud Emad Hagag" userId="79e6f751071d9884" providerId="LiveId" clId="{B92ED33B-9A81-4E2D-AEF7-3F270CA0A6CC}" dt="2025-11-08T21:29:55.398" v="641" actId="478"/>
          <ac:spMkLst>
            <pc:docMk/>
            <pc:sldMk cId="1742861620" sldId="266"/>
            <ac:spMk id="5" creationId="{8CAB6FC0-97E4-3DF3-DA5D-B4AB9776F556}"/>
          </ac:spMkLst>
        </pc:spChg>
        <pc:spChg chg="add mod">
          <ac:chgData name="Kholoud Emad Hagag" userId="79e6f751071d9884" providerId="LiveId" clId="{B92ED33B-9A81-4E2D-AEF7-3F270CA0A6CC}" dt="2025-11-08T21:39:41.224" v="691" actId="113"/>
          <ac:spMkLst>
            <pc:docMk/>
            <pc:sldMk cId="1742861620" sldId="266"/>
            <ac:spMk id="7" creationId="{5FA84D81-480F-F427-8DCA-EC5B9F106A91}"/>
          </ac:spMkLst>
        </pc:spChg>
        <pc:picChg chg="del">
          <ac:chgData name="Kholoud Emad Hagag" userId="79e6f751071d9884" providerId="LiveId" clId="{B92ED33B-9A81-4E2D-AEF7-3F270CA0A6CC}" dt="2025-11-08T21:29:48.037" v="640" actId="478"/>
          <ac:picMkLst>
            <pc:docMk/>
            <pc:sldMk cId="1742861620" sldId="266"/>
            <ac:picMk id="47" creationId="{F55BC7A4-EE4B-7EFC-C325-408D66C3CBA7}"/>
          </ac:picMkLst>
        </pc:picChg>
        <pc:cxnChg chg="del mod">
          <ac:chgData name="Kholoud Emad Hagag" userId="79e6f751071d9884" providerId="LiveId" clId="{B92ED33B-9A81-4E2D-AEF7-3F270CA0A6CC}" dt="2025-11-08T21:32:44.261" v="648" actId="478"/>
          <ac:cxnSpMkLst>
            <pc:docMk/>
            <pc:sldMk cId="1742861620" sldId="266"/>
            <ac:cxnSpMk id="23" creationId="{D87F08D6-2CA7-4A5A-BE34-07113DCA535D}"/>
          </ac:cxnSpMkLst>
        </pc:cxnChg>
      </pc:sldChg>
      <pc:sldChg chg="modSp mod">
        <pc:chgData name="Kholoud Emad Hagag" userId="79e6f751071d9884" providerId="LiveId" clId="{B92ED33B-9A81-4E2D-AEF7-3F270CA0A6CC}" dt="2025-11-08T21:53:36.999" v="798" actId="27636"/>
        <pc:sldMkLst>
          <pc:docMk/>
          <pc:sldMk cId="1969787568" sldId="271"/>
        </pc:sldMkLst>
        <pc:spChg chg="mod">
          <ac:chgData name="Kholoud Emad Hagag" userId="79e6f751071d9884" providerId="LiveId" clId="{B92ED33B-9A81-4E2D-AEF7-3F270CA0A6CC}" dt="2025-11-08T21:52:24.439" v="778" actId="1076"/>
          <ac:spMkLst>
            <pc:docMk/>
            <pc:sldMk cId="1969787568" sldId="271"/>
            <ac:spMk id="5" creationId="{4F77E7DB-2070-C735-F980-9151BDCF7545}"/>
          </ac:spMkLst>
        </pc:spChg>
        <pc:spChg chg="mod">
          <ac:chgData name="Kholoud Emad Hagag" userId="79e6f751071d9884" providerId="LiveId" clId="{B92ED33B-9A81-4E2D-AEF7-3F270CA0A6CC}" dt="2025-11-08T21:53:36.999" v="798" actId="27636"/>
          <ac:spMkLst>
            <pc:docMk/>
            <pc:sldMk cId="1969787568" sldId="271"/>
            <ac:spMk id="8" creationId="{79831E91-4789-DBA6-938F-8C576EA0E57A}"/>
          </ac:spMkLst>
        </pc:spChg>
      </pc:sldChg>
      <pc:sldChg chg="modSp mod">
        <pc:chgData name="Kholoud Emad Hagag" userId="79e6f751071d9884" providerId="LiveId" clId="{B92ED33B-9A81-4E2D-AEF7-3F270CA0A6CC}" dt="2025-11-08T21:09:39.433" v="556" actId="255"/>
        <pc:sldMkLst>
          <pc:docMk/>
          <pc:sldMk cId="608796113" sldId="278"/>
        </pc:sldMkLst>
        <pc:spChg chg="mod">
          <ac:chgData name="Kholoud Emad Hagag" userId="79e6f751071d9884" providerId="LiveId" clId="{B92ED33B-9A81-4E2D-AEF7-3F270CA0A6CC}" dt="2025-11-08T21:08:06.182" v="549" actId="14100"/>
          <ac:spMkLst>
            <pc:docMk/>
            <pc:sldMk cId="608796113" sldId="278"/>
            <ac:spMk id="2" creationId="{9528DBD1-DB29-D44F-FD5A-3071BB37EF37}"/>
          </ac:spMkLst>
        </pc:spChg>
        <pc:spChg chg="mod">
          <ac:chgData name="Kholoud Emad Hagag" userId="79e6f751071d9884" providerId="LiveId" clId="{B92ED33B-9A81-4E2D-AEF7-3F270CA0A6CC}" dt="2025-11-08T21:09:39.433" v="556" actId="255"/>
          <ac:spMkLst>
            <pc:docMk/>
            <pc:sldMk cId="608796113" sldId="278"/>
            <ac:spMk id="4" creationId="{0AAE3082-3808-323A-6A43-FAF314503D20}"/>
          </ac:spMkLst>
        </pc:spChg>
      </pc:sldChg>
      <pc:sldChg chg="addSp delSp modSp mod">
        <pc:chgData name="Kholoud Emad Hagag" userId="79e6f751071d9884" providerId="LiveId" clId="{B92ED33B-9A81-4E2D-AEF7-3F270CA0A6CC}" dt="2025-11-08T21:16:29.919" v="585" actId="1076"/>
        <pc:sldMkLst>
          <pc:docMk/>
          <pc:sldMk cId="2241459136" sldId="279"/>
        </pc:sldMkLst>
        <pc:spChg chg="mod">
          <ac:chgData name="Kholoud Emad Hagag" userId="79e6f751071d9884" providerId="LiveId" clId="{B92ED33B-9A81-4E2D-AEF7-3F270CA0A6CC}" dt="2025-11-08T21:15:52.124" v="579" actId="1076"/>
          <ac:spMkLst>
            <pc:docMk/>
            <pc:sldMk cId="2241459136" sldId="279"/>
            <ac:spMk id="2" creationId="{818AFA5E-469B-2BFC-9D4E-BD1EC6E48CA0}"/>
          </ac:spMkLst>
        </pc:spChg>
        <pc:spChg chg="add mod">
          <ac:chgData name="Kholoud Emad Hagag" userId="79e6f751071d9884" providerId="LiveId" clId="{B92ED33B-9A81-4E2D-AEF7-3F270CA0A6CC}" dt="2025-11-08T21:11:37.659" v="570" actId="571"/>
          <ac:spMkLst>
            <pc:docMk/>
            <pc:sldMk cId="2241459136" sldId="279"/>
            <ac:spMk id="3" creationId="{BF8767FC-B4A6-D2FA-270D-B257F5D189C5}"/>
          </ac:spMkLst>
        </pc:spChg>
        <pc:spChg chg="mod">
          <ac:chgData name="Kholoud Emad Hagag" userId="79e6f751071d9884" providerId="LiveId" clId="{B92ED33B-9A81-4E2D-AEF7-3F270CA0A6CC}" dt="2025-11-08T21:16:29.919" v="585" actId="1076"/>
          <ac:spMkLst>
            <pc:docMk/>
            <pc:sldMk cId="2241459136" sldId="279"/>
            <ac:spMk id="4" creationId="{E22A2CE2-EC2E-C98D-3526-E98D826AB8FE}"/>
          </ac:spMkLst>
        </pc:spChg>
        <pc:spChg chg="add del mod">
          <ac:chgData name="Kholoud Emad Hagag" userId="79e6f751071d9884" providerId="LiveId" clId="{B92ED33B-9A81-4E2D-AEF7-3F270CA0A6CC}" dt="2025-11-08T21:15:26.784" v="576" actId="478"/>
          <ac:spMkLst>
            <pc:docMk/>
            <pc:sldMk cId="2241459136" sldId="279"/>
            <ac:spMk id="6" creationId="{F5415C31-C4C5-E64B-109D-FB45D4B23599}"/>
          </ac:spMkLst>
        </pc:spChg>
        <pc:picChg chg="del">
          <ac:chgData name="Kholoud Emad Hagag" userId="79e6f751071d9884" providerId="LiveId" clId="{B92ED33B-9A81-4E2D-AEF7-3F270CA0A6CC}" dt="2025-11-08T21:12:29.638" v="574" actId="478"/>
          <ac:picMkLst>
            <pc:docMk/>
            <pc:sldMk cId="2241459136" sldId="279"/>
            <ac:picMk id="16" creationId="{448EF356-1822-E2AE-2794-322870D4C222}"/>
          </ac:picMkLst>
        </pc:picChg>
      </pc:sldChg>
      <pc:sldChg chg="modSp mod">
        <pc:chgData name="Kholoud Emad Hagag" userId="79e6f751071d9884" providerId="LiveId" clId="{B92ED33B-9A81-4E2D-AEF7-3F270CA0A6CC}" dt="2025-11-08T21:22:54.709" v="610" actId="1076"/>
        <pc:sldMkLst>
          <pc:docMk/>
          <pc:sldMk cId="334696707" sldId="280"/>
        </pc:sldMkLst>
        <pc:spChg chg="mod">
          <ac:chgData name="Kholoud Emad Hagag" userId="79e6f751071d9884" providerId="LiveId" clId="{B92ED33B-9A81-4E2D-AEF7-3F270CA0A6CC}" dt="2025-11-08T21:22:54.709" v="610" actId="1076"/>
          <ac:spMkLst>
            <pc:docMk/>
            <pc:sldMk cId="334696707" sldId="280"/>
            <ac:spMk id="2" creationId="{566C97BE-403B-122E-90D1-2788978A0B6F}"/>
          </ac:spMkLst>
        </pc:spChg>
      </pc:sldChg>
      <pc:sldChg chg="addSp delSp modSp mod">
        <pc:chgData name="Kholoud Emad Hagag" userId="79e6f751071d9884" providerId="LiveId" clId="{B92ED33B-9A81-4E2D-AEF7-3F270CA0A6CC}" dt="2025-11-08T21:28:34.256" v="633" actId="1076"/>
        <pc:sldMkLst>
          <pc:docMk/>
          <pc:sldMk cId="103458723" sldId="281"/>
        </pc:sldMkLst>
        <pc:spChg chg="del mod">
          <ac:chgData name="Kholoud Emad Hagag" userId="79e6f751071d9884" providerId="LiveId" clId="{B92ED33B-9A81-4E2D-AEF7-3F270CA0A6CC}" dt="2025-11-08T21:26:40.239" v="618" actId="478"/>
          <ac:spMkLst>
            <pc:docMk/>
            <pc:sldMk cId="103458723" sldId="281"/>
            <ac:spMk id="2" creationId="{A95E2E6A-35EC-1B8E-0FD7-8C67870ACA64}"/>
          </ac:spMkLst>
        </pc:spChg>
        <pc:spChg chg="del mod">
          <ac:chgData name="Kholoud Emad Hagag" userId="79e6f751071d9884" providerId="LiveId" clId="{B92ED33B-9A81-4E2D-AEF7-3F270CA0A6CC}" dt="2025-11-08T21:26:25.710" v="615"/>
          <ac:spMkLst>
            <pc:docMk/>
            <pc:sldMk cId="103458723" sldId="281"/>
            <ac:spMk id="4" creationId="{D87F009D-1129-9AA7-A157-35CF39CA7845}"/>
          </ac:spMkLst>
        </pc:spChg>
        <pc:spChg chg="add mod">
          <ac:chgData name="Kholoud Emad Hagag" userId="79e6f751071d9884" providerId="LiveId" clId="{B92ED33B-9A81-4E2D-AEF7-3F270CA0A6CC}" dt="2025-11-08T21:27:11.925" v="625" actId="1076"/>
          <ac:spMkLst>
            <pc:docMk/>
            <pc:sldMk cId="103458723" sldId="281"/>
            <ac:spMk id="5" creationId="{CF1850DC-2156-4759-1D5F-8C331181F961}"/>
          </ac:spMkLst>
        </pc:spChg>
        <pc:spChg chg="add del mod">
          <ac:chgData name="Kholoud Emad Hagag" userId="79e6f751071d9884" providerId="LiveId" clId="{B92ED33B-9A81-4E2D-AEF7-3F270CA0A6CC}" dt="2025-11-08T21:26:46.733" v="619" actId="478"/>
          <ac:spMkLst>
            <pc:docMk/>
            <pc:sldMk cId="103458723" sldId="281"/>
            <ac:spMk id="7" creationId="{B6F107A2-C4C8-B54C-D8CA-8C30BE941D5B}"/>
          </ac:spMkLst>
        </pc:spChg>
        <pc:graphicFrameChg chg="add mod modGraphic">
          <ac:chgData name="Kholoud Emad Hagag" userId="79e6f751071d9884" providerId="LiveId" clId="{B92ED33B-9A81-4E2D-AEF7-3F270CA0A6CC}" dt="2025-11-08T21:28:34.256" v="633" actId="1076"/>
          <ac:graphicFrameMkLst>
            <pc:docMk/>
            <pc:sldMk cId="103458723" sldId="281"/>
            <ac:graphicFrameMk id="3" creationId="{217767B1-E55B-35B9-0A7C-923972297509}"/>
          </ac:graphicFrameMkLst>
        </pc:graphicFrameChg>
      </pc:sldChg>
      <pc:sldChg chg="modSp mod">
        <pc:chgData name="Kholoud Emad Hagag" userId="79e6f751071d9884" providerId="LiveId" clId="{B92ED33B-9A81-4E2D-AEF7-3F270CA0A6CC}" dt="2025-11-08T21:29:42.177" v="639" actId="1076"/>
        <pc:sldMkLst>
          <pc:docMk/>
          <pc:sldMk cId="636929804" sldId="282"/>
        </pc:sldMkLst>
        <pc:spChg chg="mod">
          <ac:chgData name="Kholoud Emad Hagag" userId="79e6f751071d9884" providerId="LiveId" clId="{B92ED33B-9A81-4E2D-AEF7-3F270CA0A6CC}" dt="2025-11-08T21:29:42.177" v="639" actId="1076"/>
          <ac:spMkLst>
            <pc:docMk/>
            <pc:sldMk cId="636929804" sldId="282"/>
            <ac:spMk id="2" creationId="{8B27D9B3-B64F-656A-0D99-161A6C0F518F}"/>
          </ac:spMkLst>
        </pc:spChg>
      </pc:sldChg>
      <pc:sldChg chg="modSp mod">
        <pc:chgData name="Kholoud Emad Hagag" userId="79e6f751071d9884" providerId="LiveId" clId="{B92ED33B-9A81-4E2D-AEF7-3F270CA0A6CC}" dt="2025-11-08T21:41:41.527" v="709" actId="14100"/>
        <pc:sldMkLst>
          <pc:docMk/>
          <pc:sldMk cId="1658164610" sldId="283"/>
        </pc:sldMkLst>
        <pc:spChg chg="mod">
          <ac:chgData name="Kholoud Emad Hagag" userId="79e6f751071d9884" providerId="LiveId" clId="{B92ED33B-9A81-4E2D-AEF7-3F270CA0A6CC}" dt="2025-11-08T21:41:41.527" v="709" actId="14100"/>
          <ac:spMkLst>
            <pc:docMk/>
            <pc:sldMk cId="1658164610" sldId="283"/>
            <ac:spMk id="4" creationId="{BA1E7E45-80A2-B902-6DAF-982E77A193D8}"/>
          </ac:spMkLst>
        </pc:spChg>
        <pc:spChg chg="mod">
          <ac:chgData name="Kholoud Emad Hagag" userId="79e6f751071d9884" providerId="LiveId" clId="{B92ED33B-9A81-4E2D-AEF7-3F270CA0A6CC}" dt="2025-11-08T21:36:50.434" v="676" actId="14100"/>
          <ac:spMkLst>
            <pc:docMk/>
            <pc:sldMk cId="1658164610" sldId="283"/>
            <ac:spMk id="8" creationId="{FF6D0691-1250-0002-F6B4-D23FF8F8CCD9}"/>
          </ac:spMkLst>
        </pc:spChg>
      </pc:sldChg>
      <pc:sldChg chg="modSp mod">
        <pc:chgData name="Kholoud Emad Hagag" userId="79e6f751071d9884" providerId="LiveId" clId="{B92ED33B-9A81-4E2D-AEF7-3F270CA0A6CC}" dt="2025-11-08T21:46:34.942" v="742" actId="20577"/>
        <pc:sldMkLst>
          <pc:docMk/>
          <pc:sldMk cId="2403577982" sldId="284"/>
        </pc:sldMkLst>
        <pc:spChg chg="mod">
          <ac:chgData name="Kholoud Emad Hagag" userId="79e6f751071d9884" providerId="LiveId" clId="{B92ED33B-9A81-4E2D-AEF7-3F270CA0A6CC}" dt="2025-11-08T21:46:34.942" v="742" actId="20577"/>
          <ac:spMkLst>
            <pc:docMk/>
            <pc:sldMk cId="2403577982" sldId="284"/>
            <ac:spMk id="3" creationId="{0C11D535-3780-D837-45DE-A975B4928433}"/>
          </ac:spMkLst>
        </pc:spChg>
        <pc:spChg chg="mod">
          <ac:chgData name="Kholoud Emad Hagag" userId="79e6f751071d9884" providerId="LiveId" clId="{B92ED33B-9A81-4E2D-AEF7-3F270CA0A6CC}" dt="2025-11-08T21:43:22.534" v="721" actId="1076"/>
          <ac:spMkLst>
            <pc:docMk/>
            <pc:sldMk cId="2403577982" sldId="284"/>
            <ac:spMk id="5" creationId="{E0C1644A-6FA9-E1EA-F023-A13D16C36CF1}"/>
          </ac:spMkLst>
        </pc:spChg>
      </pc:sldChg>
      <pc:sldChg chg="modSp mod">
        <pc:chgData name="Kholoud Emad Hagag" userId="79e6f751071d9884" providerId="LiveId" clId="{B92ED33B-9A81-4E2D-AEF7-3F270CA0A6CC}" dt="2025-11-08T21:50:51.981" v="772" actId="255"/>
        <pc:sldMkLst>
          <pc:docMk/>
          <pc:sldMk cId="2791821786" sldId="285"/>
        </pc:sldMkLst>
        <pc:spChg chg="mod">
          <ac:chgData name="Kholoud Emad Hagag" userId="79e6f751071d9884" providerId="LiveId" clId="{B92ED33B-9A81-4E2D-AEF7-3F270CA0A6CC}" dt="2025-11-08T21:50:51.981" v="772" actId="255"/>
          <ac:spMkLst>
            <pc:docMk/>
            <pc:sldMk cId="2791821786" sldId="285"/>
            <ac:spMk id="4" creationId="{1B829C69-AA44-E44C-9A66-2B1352801576}"/>
          </ac:spMkLst>
        </pc:spChg>
        <pc:spChg chg="mod">
          <ac:chgData name="Kholoud Emad Hagag" userId="79e6f751071d9884" providerId="LiveId" clId="{B92ED33B-9A81-4E2D-AEF7-3F270CA0A6CC}" dt="2025-11-08T21:48:57.725" v="755" actId="255"/>
          <ac:spMkLst>
            <pc:docMk/>
            <pc:sldMk cId="2791821786" sldId="285"/>
            <ac:spMk id="8" creationId="{3E5FEE2D-79E5-4C1D-8BF7-EE619CA703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" y="1295401"/>
            <a:ext cx="10048876" cy="4486274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Supply Chain Performance Analysis and Optimization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dirty="0"/>
            </a:br>
            <a:r>
              <a:rPr lang="en-US" sz="2200" b="1" dirty="0"/>
              <a:t>Presented by</a:t>
            </a:r>
            <a:r>
              <a:rPr lang="en-US" b="1" dirty="0"/>
              <a:t>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en-US" sz="2000" dirty="0"/>
              <a:t>Kholoud Hagag ·</a:t>
            </a:r>
            <a:br>
              <a:rPr lang="en-US" sz="2000" dirty="0"/>
            </a:br>
            <a:r>
              <a:rPr lang="en-US" sz="2000" dirty="0"/>
              <a:t> Mahmoud Seera ·</a:t>
            </a:r>
            <a:br>
              <a:rPr lang="en-US" sz="2000" dirty="0"/>
            </a:br>
            <a:r>
              <a:rPr lang="en-US" sz="2000" dirty="0"/>
              <a:t> Ahmed Hussein ·</a:t>
            </a:r>
            <a:br>
              <a:rPr lang="en-US" sz="2000" dirty="0"/>
            </a:br>
            <a:r>
              <a:rPr lang="en-US" sz="2000" dirty="0"/>
              <a:t> Reham Sobeeh.</a:t>
            </a:r>
            <a:br>
              <a:rPr lang="en-US" sz="2000" dirty="0"/>
            </a:br>
            <a:br>
              <a:rPr lang="en-US" dirty="0"/>
            </a:br>
            <a:r>
              <a:rPr lang="en-US" sz="2400" b="1" dirty="0"/>
              <a:t>Instructor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/>
              <a:t>Eng. </a:t>
            </a:r>
            <a:r>
              <a:rPr lang="en-US" sz="2200" dirty="0" err="1"/>
              <a:t>Sherihan</a:t>
            </a:r>
            <a:r>
              <a:rPr lang="en-US" sz="2200" dirty="0"/>
              <a:t> Ali</a:t>
            </a:r>
            <a:br>
              <a:rPr lang="en-US" dirty="0"/>
            </a:br>
            <a:br>
              <a:rPr lang="en-US" dirty="0"/>
            </a:br>
            <a:r>
              <a:rPr lang="en-US" sz="2400" b="1" dirty="0"/>
              <a:t>Company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/>
              <a:t>YTH</a:t>
            </a:r>
            <a:br>
              <a:rPr lang="en-US" sz="2200" dirty="0"/>
            </a:br>
            <a:r>
              <a:rPr lang="en-US" sz="2200" dirty="0"/>
              <a:t> 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5825" y="152400"/>
            <a:ext cx="10172699" cy="1095375"/>
          </a:xfrm>
        </p:spPr>
        <p:txBody>
          <a:bodyPr/>
          <a:lstStyle/>
          <a:p>
            <a:pPr algn="ctr"/>
            <a:r>
              <a:rPr lang="en-US" sz="2400" b="1" dirty="0"/>
              <a:t>Project Background &amp; Business Problem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E3082-3808-323A-6A43-FAF314503D20}"/>
              </a:ext>
            </a:extLst>
          </p:cNvPr>
          <p:cNvSpPr txBox="1"/>
          <p:nvPr/>
        </p:nvSpPr>
        <p:spPr>
          <a:xfrm>
            <a:off x="466725" y="2205837"/>
            <a:ext cx="1048702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Background:</a:t>
            </a:r>
            <a:br>
              <a:rPr lang="en-US" dirty="0"/>
            </a:br>
            <a:r>
              <a:rPr lang="en-US" sz="2000" dirty="0"/>
              <a:t>This project focuses on improving supply chain efficiency and performance through data analytics and Power BI visualization.</a:t>
            </a:r>
            <a:br>
              <a:rPr lang="en-US" sz="2000" dirty="0"/>
            </a:br>
            <a:r>
              <a:rPr lang="en-US" sz="2000" dirty="0"/>
              <a:t>The analysis covers sourcing, manufacturing, inventory, and logistics functions to identify bottlenecks and cost inefficiencies.</a:t>
            </a:r>
          </a:p>
          <a:p>
            <a:pPr>
              <a:buNone/>
            </a:pPr>
            <a:r>
              <a:rPr lang="en-US" sz="2200" b="1" dirty="0"/>
              <a:t>Business Problem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Inefficient inventory control → stockouts &amp; overstock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High, inconsistent shipping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Supplier delays and quality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Lack of visibility across the supply chain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0" y="9525"/>
            <a:ext cx="5086350" cy="761548"/>
          </a:xfrm>
        </p:spPr>
        <p:txBody>
          <a:bodyPr/>
          <a:lstStyle/>
          <a:p>
            <a:r>
              <a:rPr lang="en-US" sz="2400" b="1" dirty="0"/>
              <a:t>Project Objectives &amp; Scope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2A2CE2-EC2E-C98D-3526-E98D826AB8FE}"/>
              </a:ext>
            </a:extLst>
          </p:cNvPr>
          <p:cNvSpPr txBox="1"/>
          <p:nvPr/>
        </p:nvSpPr>
        <p:spPr>
          <a:xfrm>
            <a:off x="1924049" y="1779703"/>
            <a:ext cx="7867651" cy="315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Objectives: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Analyze key performance drivers across supply chain stages.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Optimize inventory levels to balance cost and availability.</a:t>
            </a:r>
          </a:p>
          <a:p>
            <a:r>
              <a:rPr lang="en-US" sz="2000" dirty="0">
                <a:solidFill>
                  <a:schemeClr val="bg1"/>
                </a:solidFill>
              </a:rPr>
              <a:t>Improve logistics efficiency and delivery times.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Evaluate supplier performance based on reliability and quality.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Provide actionable insights via an interactive Power BI dashboard.</a:t>
            </a:r>
          </a:p>
          <a:p>
            <a:r>
              <a:rPr lang="en-US" sz="2200" b="1" dirty="0">
                <a:solidFill>
                  <a:schemeClr val="bg1"/>
                </a:solidFill>
              </a:rPr>
              <a:t>Scope: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Focuses on descriptive and diagnostic analysis using existing company data to identify improvement opportunities.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endParaRPr lang="en-US" sz="1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368" y="0"/>
            <a:ext cx="7288282" cy="1189387"/>
          </a:xfrm>
        </p:spPr>
        <p:txBody>
          <a:bodyPr/>
          <a:lstStyle/>
          <a:p>
            <a:r>
              <a:rPr lang="en-GB" sz="2400" b="1" dirty="0"/>
              <a:t>Data overview and data model</a:t>
            </a:r>
            <a:br>
              <a:rPr lang="en-GB" dirty="0"/>
            </a:b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61C4DF-6308-6371-1F00-281173AB5D1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27112" y="1233550"/>
            <a:ext cx="8707437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initial data was extracted from a Comma-Separated Values (CSV) file containing raw transactional, quality, and production metrics from the company’s supply chain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dataset was processed and transformed using Power BI (Power Query) to handle missing values, remove duplicates, and ensure consistency across product, supplier, and logistics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Measures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analytical measures were created using DAX (Data Analysis Expressions) — including KPIs such as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Turnover, Lead Time, Defect Rate,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 Cost per Unit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to enable accurate and dynamic performance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4650" y="1450579"/>
            <a:ext cx="4333876" cy="1568846"/>
          </a:xfrm>
        </p:spPr>
        <p:txBody>
          <a:bodyPr/>
          <a:lstStyle/>
          <a:p>
            <a:r>
              <a:rPr lang="ar-SA" sz="2400" dirty="0"/>
              <a:t>Analysis </a:t>
            </a:r>
            <a:r>
              <a:rPr lang="ar-SA" sz="2400" dirty="0" err="1"/>
              <a:t>and</a:t>
            </a:r>
            <a:r>
              <a:rPr lang="ar-SA" sz="2400" dirty="0"/>
              <a:t> </a:t>
            </a:r>
            <a:r>
              <a:rPr lang="ar-SA" sz="2400" dirty="0" err="1"/>
              <a:t>insights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17767B1-E55B-35B9-0A7C-92397229750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0057973"/>
              </p:ext>
            </p:extLst>
          </p:nvPr>
        </p:nvGraphicFramePr>
        <p:xfrm>
          <a:off x="800100" y="1452741"/>
          <a:ext cx="10197306" cy="4769376"/>
        </p:xfrm>
        <a:graphic>
          <a:graphicData uri="http://schemas.openxmlformats.org/drawingml/2006/table">
            <a:tbl>
              <a:tblPr/>
              <a:tblGrid>
                <a:gridCol w="3700198">
                  <a:extLst>
                    <a:ext uri="{9D8B030D-6E8A-4147-A177-3AD203B41FA5}">
                      <a16:colId xmlns:a16="http://schemas.microsoft.com/office/drawing/2014/main" val="1571536669"/>
                    </a:ext>
                  </a:extLst>
                </a:gridCol>
                <a:gridCol w="3248554">
                  <a:extLst>
                    <a:ext uri="{9D8B030D-6E8A-4147-A177-3AD203B41FA5}">
                      <a16:colId xmlns:a16="http://schemas.microsoft.com/office/drawing/2014/main" val="2649464799"/>
                    </a:ext>
                  </a:extLst>
                </a:gridCol>
                <a:gridCol w="3248554">
                  <a:extLst>
                    <a:ext uri="{9D8B030D-6E8A-4147-A177-3AD203B41FA5}">
                      <a16:colId xmlns:a16="http://schemas.microsoft.com/office/drawing/2014/main" val="162125778"/>
                    </a:ext>
                  </a:extLst>
                </a:gridCol>
              </a:tblGrid>
              <a:tr h="25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Metric</a:t>
                      </a:r>
                      <a:endParaRPr lang="en-US" sz="1800" dirty="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Value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Insight / Benchmark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447108"/>
                  </a:ext>
                </a:extLst>
              </a:tr>
              <a:tr h="633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Total Revenue</a:t>
                      </a:r>
                      <a:endParaRPr lang="en-US" sz="1800" dirty="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$677.8K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Indicates strong sales performance within the observed period.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797651"/>
                  </a:ext>
                </a:extLst>
              </a:tr>
              <a:tr h="633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Profit Margin</a:t>
                      </a:r>
                      <a:endParaRPr lang="en-US" sz="1800" dirty="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16.84%</a:t>
                      </a:r>
                      <a:endParaRPr lang="en-US" sz="1800" dirty="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Reflects moderate profitability — potential to improve through cost optimization.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028775"/>
                  </a:ext>
                </a:extLst>
              </a:tr>
              <a:tr h="633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Overall Defect Rate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2.25%</a:t>
                      </a:r>
                      <a:endParaRPr lang="en-US" sz="1800" dirty="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Within acceptable range, but continued quality monitoring is recommended.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3242"/>
                  </a:ext>
                </a:extLst>
              </a:tr>
              <a:tr h="633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Average Cost per Unit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$1.15</a:t>
                      </a:r>
                      <a:endParaRPr lang="en-US" sz="1800" dirty="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Suggests efficient production cost management across product lines.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48199"/>
                  </a:ext>
                </a:extLst>
              </a:tr>
              <a:tr h="633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Failed / Pending Inspections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47%</a:t>
                      </a:r>
                      <a:endParaRPr lang="en-US" sz="1800"/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Highlights a </a:t>
                      </a:r>
                      <a:r>
                        <a:rPr lang="en-US" sz="1800" b="1" dirty="0"/>
                        <a:t>bottleneck in the inspection process</a:t>
                      </a:r>
                      <a:r>
                        <a:rPr lang="en-US" sz="1800" dirty="0"/>
                        <a:t>, requiring immediate attention.</a:t>
                      </a:r>
                    </a:p>
                  </a:txBody>
                  <a:tcPr marL="63376" marR="63376" marT="31688" marB="31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462010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1850DC-2156-4759-1D5F-8C331181F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173594"/>
            <a:ext cx="69913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Performance Indicators (KPIs) Summary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668" y="339025"/>
            <a:ext cx="7288282" cy="722662"/>
          </a:xfrm>
        </p:spPr>
        <p:txBody>
          <a:bodyPr>
            <a:normAutofit/>
          </a:bodyPr>
          <a:lstStyle/>
          <a:p>
            <a:pPr algn="ctr"/>
            <a:r>
              <a:rPr lang="ar-SA" sz="2400" b="1" dirty="0"/>
              <a:t>The  </a:t>
            </a:r>
            <a:r>
              <a:rPr lang="ar-SA" sz="2400" b="1" dirty="0" err="1"/>
              <a:t>supply</a:t>
            </a:r>
            <a:r>
              <a:rPr lang="ar-SA" sz="2400" b="1" dirty="0"/>
              <a:t> </a:t>
            </a:r>
            <a:r>
              <a:rPr lang="ar-SA" sz="2400" b="1" dirty="0" err="1"/>
              <a:t>chain</a:t>
            </a:r>
            <a:r>
              <a:rPr lang="ar-SA" sz="2400" b="1" dirty="0"/>
              <a:t> </a:t>
            </a:r>
            <a:r>
              <a:rPr lang="ar-SA" sz="2400" b="1" dirty="0" err="1"/>
              <a:t>dashboards</a:t>
            </a:r>
            <a:endParaRPr lang="en-US" sz="2400" b="1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FA00BF63-4A98-9342-94BA-46EB8CBBCC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09752" y="2541175"/>
            <a:ext cx="3599209" cy="34067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D87785-B1CA-8A2B-3FD0-69B0F5FA2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394" y="2541175"/>
            <a:ext cx="3599210" cy="32551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D2718D-572C-6B74-E024-7972D4E45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037" y="2634839"/>
            <a:ext cx="3599211" cy="31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461819"/>
            <a:ext cx="6807951" cy="871682"/>
          </a:xfrm>
        </p:spPr>
        <p:txBody>
          <a:bodyPr>
            <a:normAutofit/>
          </a:bodyPr>
          <a:lstStyle/>
          <a:p>
            <a:r>
              <a:rPr lang="en-US" sz="2400" b="1" dirty="0"/>
              <a:t>Insight 1: The Haircare Product Gap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0076" y="1753053"/>
            <a:ext cx="10760826" cy="4895397"/>
          </a:xfrm>
        </p:spPr>
        <p:txBody>
          <a:bodyPr>
            <a:noAutofit/>
          </a:bodyPr>
          <a:lstStyle/>
          <a:p>
            <a:r>
              <a:rPr lang="en-US" sz="2200" dirty="0"/>
              <a:t>Focus:</a:t>
            </a:r>
            <a:br>
              <a:rPr lang="en-US" dirty="0"/>
            </a:br>
            <a:r>
              <a:rPr lang="en-US" sz="2000" dirty="0"/>
              <a:t>Haircare products represent a high-revenue category, yet they show signs of operational inefficiency and profitability challenges</a:t>
            </a:r>
            <a:r>
              <a:rPr lang="en-US" dirty="0"/>
              <a:t>.</a:t>
            </a:r>
          </a:p>
          <a:p>
            <a:r>
              <a:rPr lang="en-US" sz="2200" dirty="0"/>
              <a:t>Key Findings:</a:t>
            </a:r>
          </a:p>
          <a:p>
            <a:r>
              <a:rPr lang="en-US" dirty="0"/>
              <a:t> </a:t>
            </a:r>
            <a:r>
              <a:rPr lang="en-US" sz="2200" dirty="0"/>
              <a:t>Highest Inspection Fees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000" dirty="0"/>
              <a:t>Account for 41% of total inspection costs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sz="2200" dirty="0"/>
              <a:t>Lowest Profit Margin</a:t>
            </a:r>
            <a:r>
              <a:rPr lang="en-US" sz="2000" dirty="0"/>
              <a:t>: Only 10.1%, well below the product line average.</a:t>
            </a:r>
          </a:p>
          <a:p>
            <a:r>
              <a:rPr lang="en-US" dirty="0"/>
              <a:t> </a:t>
            </a:r>
            <a:r>
              <a:rPr lang="en-US" sz="2200" dirty="0"/>
              <a:t>Highest Defect Rate</a:t>
            </a:r>
            <a:r>
              <a:rPr lang="en-US" sz="2000" dirty="0"/>
              <a:t>: 6.3%, indicating consistent quality control issues.</a:t>
            </a:r>
          </a:p>
          <a:p>
            <a:r>
              <a:rPr lang="en-US" sz="2200" dirty="0"/>
              <a:t>Conclusion:</a:t>
            </a:r>
          </a:p>
          <a:p>
            <a:r>
              <a:rPr lang="en-US" sz="2000" dirty="0"/>
              <a:t>Despite being a top revenue generator, Haircare products act as a major operational and financial drain.</a:t>
            </a:r>
            <a:br>
              <a:rPr lang="en-US" sz="2000" dirty="0"/>
            </a:br>
            <a:r>
              <a:rPr lang="en-US" sz="2000" dirty="0"/>
              <a:t>Immediate focus should be placed on quality improvement, inspection cost reduction, and process optimization within this category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FA84D81-480F-F427-8DCA-EC5B9F106A91}"/>
              </a:ext>
            </a:extLst>
          </p:cNvPr>
          <p:cNvSpPr txBox="1">
            <a:spLocks/>
          </p:cNvSpPr>
          <p:nvPr/>
        </p:nvSpPr>
        <p:spPr>
          <a:xfrm>
            <a:off x="600076" y="1753052"/>
            <a:ext cx="10760826" cy="4895397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Focus:</a:t>
            </a:r>
            <a:br>
              <a:rPr lang="en-US" dirty="0"/>
            </a:br>
            <a:r>
              <a:rPr lang="en-US" sz="2000" dirty="0"/>
              <a:t>Haircare products represent a high-revenue category, yet they show signs of operational inefficiency and profitability challenges</a:t>
            </a:r>
            <a:r>
              <a:rPr lang="en-US" dirty="0"/>
              <a:t>.</a:t>
            </a:r>
          </a:p>
          <a:p>
            <a:r>
              <a:rPr lang="en-US" sz="2200" b="1" dirty="0"/>
              <a:t>Key Findings:</a:t>
            </a:r>
          </a:p>
          <a:p>
            <a:r>
              <a:rPr lang="en-US" dirty="0"/>
              <a:t> </a:t>
            </a:r>
            <a:r>
              <a:rPr lang="en-US" sz="2200" dirty="0"/>
              <a:t>Highest Inspection Fees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000" dirty="0"/>
              <a:t>Account for 41% of total inspection costs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sz="2200" dirty="0"/>
              <a:t>Lowest Profit Margin</a:t>
            </a:r>
            <a:r>
              <a:rPr lang="en-US" sz="2000" dirty="0"/>
              <a:t>: Only 10.1%, well below the product line average.</a:t>
            </a:r>
          </a:p>
          <a:p>
            <a:r>
              <a:rPr lang="en-US" dirty="0"/>
              <a:t> </a:t>
            </a:r>
            <a:r>
              <a:rPr lang="en-US" sz="2200" dirty="0"/>
              <a:t>Highest Defect Rate</a:t>
            </a:r>
            <a:r>
              <a:rPr lang="en-US" sz="2000" dirty="0"/>
              <a:t>: 6.3%, indicating consistent quality control issues.</a:t>
            </a:r>
          </a:p>
          <a:p>
            <a:r>
              <a:rPr lang="en-US" sz="2200" b="1" dirty="0"/>
              <a:t>Conclusion:</a:t>
            </a:r>
          </a:p>
          <a:p>
            <a:r>
              <a:rPr lang="en-US" sz="2000" dirty="0"/>
              <a:t>Despite being a top revenue generator, Haircare products act as a major operational and financial drain.</a:t>
            </a:r>
            <a:br>
              <a:rPr lang="en-US" sz="2000" dirty="0"/>
            </a:br>
            <a:r>
              <a:rPr lang="en-US" sz="2000" dirty="0"/>
              <a:t>Immediate focus should be placed on quality improvement, inspection cost reduction, and process optimization within this category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F6D0691-1250-0002-F6B4-D23FF8F8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8926582" cy="1217540"/>
          </a:xfrm>
        </p:spPr>
        <p:txBody>
          <a:bodyPr>
            <a:normAutofit/>
          </a:bodyPr>
          <a:lstStyle/>
          <a:p>
            <a:r>
              <a:rPr lang="en-US" sz="2700" b="1" dirty="0"/>
              <a:t>Insight 2: Quality vs. Lead Time Correlation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E7E45-80A2-B902-6DAF-982E77A19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0468" y="1668324"/>
            <a:ext cx="8488432" cy="4275276"/>
          </a:xfrm>
        </p:spPr>
        <p:txBody>
          <a:bodyPr>
            <a:normAutofit fontScale="25000" lnSpcReduction="20000"/>
          </a:bodyPr>
          <a:lstStyle/>
          <a:p>
            <a:r>
              <a:rPr lang="en-US" sz="8800" dirty="0"/>
              <a:t>Focus:</a:t>
            </a:r>
            <a:br>
              <a:rPr lang="en-US" dirty="0"/>
            </a:br>
            <a:r>
              <a:rPr lang="en-US" sz="8000" b="0" dirty="0"/>
              <a:t>The Quality Analysis scatter plot reveals a clear trend between manufacturing lead time and defect rate.</a:t>
            </a:r>
          </a:p>
          <a:p>
            <a:r>
              <a:rPr lang="en-US" sz="8800" dirty="0"/>
              <a:t>Key Findings:</a:t>
            </a:r>
          </a:p>
          <a:p>
            <a:r>
              <a:rPr lang="en-US" dirty="0"/>
              <a:t> </a:t>
            </a:r>
            <a:r>
              <a:rPr lang="en-US" sz="8000" b="0" dirty="0"/>
              <a:t>Longer Manufacturing Lead Times are directly correlated with higher defect rates.</a:t>
            </a:r>
          </a:p>
          <a:p>
            <a:r>
              <a:rPr lang="en-US" sz="8000" b="0" dirty="0"/>
              <a:t>Haircare products, which have the longest lead times, show the highest defect probability among all categories. The pattern suggests process inefficiency contributes significantly to quality issues.</a:t>
            </a:r>
          </a:p>
          <a:p>
            <a:r>
              <a:rPr lang="en-US" sz="8800" dirty="0"/>
              <a:t>Conclusion:</a:t>
            </a:r>
          </a:p>
          <a:p>
            <a:r>
              <a:rPr lang="en-US" sz="8000" b="0" dirty="0"/>
              <a:t>Extended production cycles lead to higher defects.</a:t>
            </a:r>
            <a:br>
              <a:rPr lang="en-US" sz="8000" b="0" dirty="0"/>
            </a:br>
            <a:r>
              <a:rPr lang="en-US" sz="8000" b="0" dirty="0"/>
              <a:t>Recommendation: Conduct an efficiency and workflow review to shorten lead times, streamline inspection steps, and reduce defect occurrence.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1D535-3780-D837-45DE-A975B4928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8988" y="1181928"/>
            <a:ext cx="10317162" cy="4990272"/>
          </a:xfrm>
        </p:spPr>
        <p:txBody>
          <a:bodyPr>
            <a:normAutofit fontScale="25000" lnSpcReduction="20000"/>
          </a:bodyPr>
          <a:lstStyle/>
          <a:p>
            <a:r>
              <a:rPr lang="en-US" sz="8800" dirty="0"/>
              <a:t>Focus:</a:t>
            </a:r>
            <a:br>
              <a:rPr lang="en-US" dirty="0"/>
            </a:br>
            <a:r>
              <a:rPr lang="en-US" sz="8000" b="0" dirty="0"/>
              <a:t>Analysis of inspection results and shipping cost distribution highlights key operational inefficiencies affecting profitability.</a:t>
            </a:r>
          </a:p>
          <a:p>
            <a:r>
              <a:rPr lang="en-US" sz="8800" dirty="0"/>
              <a:t>Key Findings:</a:t>
            </a:r>
          </a:p>
          <a:p>
            <a:r>
              <a:rPr lang="en-US" sz="8000" b="0" dirty="0"/>
              <a:t> Inspection Delays:</a:t>
            </a:r>
            <a:br>
              <a:rPr lang="en-US" sz="8000" b="0" dirty="0"/>
            </a:br>
            <a:r>
              <a:rPr lang="en-US" sz="8000" b="0" dirty="0"/>
              <a:t>Nearly 47% of inspections remain pending, causing inventory turnover slowdowns and increased indirect holding costs.</a:t>
            </a:r>
          </a:p>
          <a:p>
            <a:r>
              <a:rPr lang="en-US" sz="8000" b="0" dirty="0"/>
              <a:t> Supplier Cost Imbalance:</a:t>
            </a:r>
            <a:br>
              <a:rPr lang="en-US" sz="8000" b="0" dirty="0"/>
            </a:br>
            <a:r>
              <a:rPr lang="en-US" sz="8000" b="0" dirty="0"/>
              <a:t>Supplier 1 and Supplier 2 show high cost-to-revenue ratios, signaling poor cost efficiency.</a:t>
            </a:r>
          </a:p>
          <a:p>
            <a:r>
              <a:rPr lang="en-US" sz="8000" b="0" dirty="0"/>
              <a:t> Logistics Concern:</a:t>
            </a:r>
            <a:br>
              <a:rPr lang="en-US" sz="8000" b="0" dirty="0"/>
            </a:br>
            <a:r>
              <a:rPr lang="en-US" sz="8000" b="0" dirty="0"/>
              <a:t>Western region shipping costs are significantly above average, suggesting a need for route optimization or contract renegotiation.</a:t>
            </a:r>
          </a:p>
          <a:p>
            <a:r>
              <a:rPr lang="en-US" sz="8800" dirty="0"/>
              <a:t>Conclusion:</a:t>
            </a:r>
          </a:p>
          <a:p>
            <a:r>
              <a:rPr lang="en-US" sz="8000" b="0" dirty="0"/>
              <a:t>The combination of inspection delays and cost concentration creates a bottleneck that impacts both operational flow and profitability.</a:t>
            </a:r>
            <a:br>
              <a:rPr lang="en-US" sz="8000" b="0" dirty="0"/>
            </a:br>
            <a:r>
              <a:rPr lang="en-US" sz="8000" b="0" dirty="0"/>
              <a:t>Recommendation: Prioritize process automation in inspections and initiate supplier and logistics cost reviews to improve efficiency.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C1644A-6FA9-E1EA-F023-A13D16C3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4293" y="276225"/>
            <a:ext cx="7288282" cy="1047750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Insight 3: Inspection &amp; Cost Bottlenecks</a:t>
            </a:r>
            <a:br>
              <a:rPr lang="en-US" dirty="0"/>
            </a:br>
            <a:br>
              <a:rPr lang="ar-S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418" y="159852"/>
            <a:ext cx="7288282" cy="1056037"/>
          </a:xfrm>
        </p:spPr>
        <p:txBody>
          <a:bodyPr anchor="b"/>
          <a:lstStyle/>
          <a:p>
            <a:r>
              <a:rPr lang="en-US" sz="2400" b="1" dirty="0"/>
              <a:t>Actionable 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29C69-AA44-E44C-9A66-2B1352801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905000"/>
            <a:ext cx="8916987" cy="42651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</a:t>
            </a:r>
            <a:r>
              <a:rPr lang="en-US" sz="2200" dirty="0"/>
              <a:t>Haircare Product Quality Improvement</a:t>
            </a:r>
          </a:p>
          <a:p>
            <a:r>
              <a:rPr lang="en-US" sz="2000" b="0" dirty="0"/>
              <a:t>Conduct a targeted review of manufacturing and inspection processes.</a:t>
            </a:r>
          </a:p>
          <a:p>
            <a:r>
              <a:rPr lang="en-US" sz="2000" b="0" dirty="0"/>
              <a:t>Goal: Reduce Defect Rate from 6.3% → 3%.</a:t>
            </a:r>
          </a:p>
          <a:p>
            <a:r>
              <a:rPr lang="en-US" dirty="0"/>
              <a:t>2. </a:t>
            </a:r>
            <a:r>
              <a:rPr lang="en-US" sz="2400" dirty="0"/>
              <a:t>Inspection Process Streamlining</a:t>
            </a:r>
          </a:p>
          <a:p>
            <a:r>
              <a:rPr lang="en-US" sz="2000" b="0" dirty="0"/>
              <a:t>Address 47% pending inspection backlog.</a:t>
            </a:r>
          </a:p>
          <a:p>
            <a:r>
              <a:rPr lang="en-US" sz="2000" b="0" dirty="0"/>
              <a:t>Implement advanced sampling, workflow optimization, or inspection automation.</a:t>
            </a:r>
          </a:p>
          <a:p>
            <a:r>
              <a:rPr lang="en-US" dirty="0"/>
              <a:t>3. </a:t>
            </a:r>
            <a:r>
              <a:rPr lang="en-US" sz="2400" dirty="0"/>
              <a:t>Cost Negotiation &amp; Logistics Optimization</a:t>
            </a:r>
          </a:p>
          <a:p>
            <a:r>
              <a:rPr lang="en-US" sz="2000" b="0" dirty="0"/>
              <a:t>Renegotiate contracts with Supplier 1 and Supplier 2 to improve cost efficiency.</a:t>
            </a:r>
          </a:p>
          <a:p>
            <a:r>
              <a:rPr lang="en-US" sz="2000" b="0" dirty="0"/>
              <a:t>Review and optimize Western region shipping contracts to reduce high logistics costs.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77E7DB-2070-C735-F980-9151BDCF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118" y="184284"/>
            <a:ext cx="7288282" cy="503587"/>
          </a:xfrm>
        </p:spPr>
        <p:txBody>
          <a:bodyPr/>
          <a:lstStyle/>
          <a:p>
            <a:r>
              <a:rPr lang="ar-SA" dirty="0" err="1"/>
              <a:t>Conclusion</a:t>
            </a:r>
            <a:r>
              <a:rPr lang="ar-SA" dirty="0"/>
              <a:t> </a:t>
            </a:r>
            <a:r>
              <a:rPr lang="ar-SA" dirty="0" err="1"/>
              <a:t>and</a:t>
            </a:r>
            <a:r>
              <a:rPr lang="ar-SA" dirty="0"/>
              <a:t> </a:t>
            </a:r>
            <a:r>
              <a:rPr lang="ar-SA" dirty="0" err="1"/>
              <a:t>value</a:t>
            </a:r>
            <a:r>
              <a:rPr lang="ar-SA" dirty="0"/>
              <a:t> </a:t>
            </a:r>
            <a:r>
              <a:rPr lang="ar-SA" dirty="0" err="1"/>
              <a:t>delivered</a:t>
            </a:r>
            <a:r>
              <a:rPr lang="ar-SA" dirty="0"/>
              <a:t>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831E91-4789-DBA6-938F-8C576EA0E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08113" y="1725474"/>
            <a:ext cx="8278812" cy="3799026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Recap:</a:t>
            </a:r>
          </a:p>
          <a:p>
            <a:r>
              <a:rPr lang="en-US" sz="2200" b="0" dirty="0"/>
              <a:t>The analysis identifies Haircare product quality issues and the inspection backlog as key barriers to profitability.</a:t>
            </a:r>
          </a:p>
          <a:p>
            <a:r>
              <a:rPr lang="en-US" sz="2200" b="0" dirty="0"/>
              <a:t>Operational inefficiencies and high costs in suppliers and logistics further impact margins and inventory flow.</a:t>
            </a:r>
          </a:p>
          <a:p>
            <a:r>
              <a:rPr lang="en-US" sz="2400" dirty="0"/>
              <a:t>Value Delivered:</a:t>
            </a:r>
          </a:p>
          <a:p>
            <a:r>
              <a:rPr lang="en-US" sz="2200" b="0" dirty="0"/>
              <a:t>Profit Margin Improvement: Implementation of recommendations is projected to increase overall profit margin by 3–5 percentage points.</a:t>
            </a:r>
          </a:p>
          <a:p>
            <a:r>
              <a:rPr lang="en-US" sz="2200" b="0" dirty="0"/>
              <a:t>Inventory Efficiency: Expected to reduce pending stock by over 50%, improving inventory turnover and operational flow.</a:t>
            </a:r>
          </a:p>
          <a:p>
            <a:r>
              <a:rPr lang="en-US" sz="2200" b="0" dirty="0"/>
              <a:t>Data-Driven Insights: Provides a clear foundation for ongoing monitoring and decision-making through an interactive Power BI dashboard.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3A6B-2939-55FE-E083-77BF5B044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 err="1"/>
              <a:t>Thank</a:t>
            </a:r>
            <a:r>
              <a:rPr lang="ar-SA" dirty="0"/>
              <a:t> </a:t>
            </a:r>
            <a:r>
              <a:rPr lang="ar-SA" dirty="0" err="1"/>
              <a:t>you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C7B21-52F1-43AC-A436-D0C1E058BB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445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{8DBEFB97-B5E3-492D-9C67-FB6BF9005AEA}tf67328976_win32</Template>
  <TotalTime>83</TotalTime>
  <Words>1085</Words>
  <Application>Microsoft Office PowerPoint</Application>
  <PresentationFormat>Widescreen</PresentationFormat>
  <Paragraphs>114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Supply Chain Performance Analysis and Optimization      Presented by:   Kholoud Hagag ·  Mahmoud Seera ·  Ahmed Hussein ·  Reham Sobeeh.  Instructor: Eng. Sherihan Ali  Company: YTH   </vt:lpstr>
      <vt:lpstr>Project Background &amp; Business Problem </vt:lpstr>
      <vt:lpstr>Project Objectives &amp; Scope</vt:lpstr>
      <vt:lpstr>Data overview and data model </vt:lpstr>
      <vt:lpstr>Analysis and insights</vt:lpstr>
      <vt:lpstr>PowerPoint Presentation</vt:lpstr>
      <vt:lpstr>The  supply chain dashboards</vt:lpstr>
      <vt:lpstr>Insight 1: The Haircare Product Gap </vt:lpstr>
      <vt:lpstr>Insight 2: Quality vs. Lead Time Correlation </vt:lpstr>
      <vt:lpstr>Insight 3: Inspection &amp; Cost Bottlenecks  </vt:lpstr>
      <vt:lpstr>Actionable Recommendations </vt:lpstr>
      <vt:lpstr>Conclusion and value delivered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Performance Analysis and Optimization</dc:title>
  <dc:creator>Kholoud Emad Hagag</dc:creator>
  <cp:lastModifiedBy>Kholoud Emad Hagag</cp:lastModifiedBy>
  <cp:revision>3</cp:revision>
  <dcterms:created xsi:type="dcterms:W3CDTF">2025-11-08T15:10:29Z</dcterms:created>
  <dcterms:modified xsi:type="dcterms:W3CDTF">2025-11-08T21:53:37Z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